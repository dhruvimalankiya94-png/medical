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18050"/>
            <a:ext cx="6858000" cy="1473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2720"/>
            <a:ext cx="6859270" cy="8851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" y="1896110"/>
            <a:ext cx="6894830" cy="222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20" y="4570730"/>
            <a:ext cx="6894830" cy="222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20" y="7580630"/>
            <a:ext cx="6894830" cy="22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48130" y="1256030"/>
            <a:ext cx="473202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6" b="1" sz="2000">
                <a:solidFill>
                  <a:srgbClr val="000000"/>
                </a:solidFill>
                <a:latin typeface="Noto Serif"/>
              </a:rPr>
              <a:t>INTERNSHIP / UDP / TRAINING REPORT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2920" y="1584960"/>
            <a:ext cx="1687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i="1" sz="1200">
                <a:solidFill>
                  <a:srgbClr val="000000"/>
                </a:solidFill>
                <a:latin typeface="Noto Serif"/>
              </a:rPr>
              <a:t>(Monthly Progress Report)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39"/>
            <a:ext cx="1718310" cy="1638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b="1" sz="1300">
                <a:solidFill>
                  <a:srgbClr val="000000"/>
                </a:solidFill>
                <a:latin typeface="Noto Serif"/>
              </a:rPr>
              <a:t>1. Student Information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9740" y="2249170"/>
          <a:ext cx="6854189" cy="20040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7730"/>
                <a:gridCol w="3426459"/>
              </a:tblGrid>
              <a:tr h="332740">
                <a:tc>
                  <a:txBody>
                    <a:bodyPr/>
                    <a:lstStyle/>
                    <a:p>
                      <a:pPr>
                        <a:lnSpc>
                          <a:spcPts val="17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64" sz="1100">
                          <a:solidFill>
                            <a:srgbClr val="000000"/>
                          </a:solidFill>
                          <a:latin typeface="Noto Serif"/>
                        </a:rPr>
                        <a:t>Student Name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77" sz="1100">
                          <a:solidFill>
                            <a:srgbClr val="000000"/>
                          </a:solidFill>
                          <a:latin typeface="Noto Serif"/>
                        </a:rPr>
                        <a:t>DHRUVI MUKESHBHAI MALANKIYA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>
                        <a:lnSpc>
                          <a:spcPts val="18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67" sz="1100">
                          <a:solidFill>
                            <a:srgbClr val="000000"/>
                          </a:solidFill>
                          <a:latin typeface="Noto Serif"/>
                        </a:rPr>
                        <a:t>Enrollment Number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25" sz="1100">
                          <a:solidFill>
                            <a:srgbClr val="000000"/>
                          </a:solidFill>
                          <a:latin typeface="Noto Serif"/>
                        </a:rPr>
                        <a:t>23SE02CE056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10"/>
                        </a:lnSpc>
                      </a:pPr>
                      <a:r>
                        <a:rPr spc="-48" sz="1100">
                          <a:solidFill>
                            <a:srgbClr val="000000"/>
                          </a:solidFill>
                          <a:latin typeface="Noto Serif"/>
                        </a:rPr>
                        <a:t>Program/Branch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6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10"/>
                        </a:lnSpc>
                      </a:pPr>
                      <a:r>
                        <a:rPr spc="-60" sz="1100">
                          <a:solidFill>
                            <a:srgbClr val="000000"/>
                          </a:solidFill>
                          <a:latin typeface="Noto Serif"/>
                        </a:rPr>
                        <a:t>B.TECH - COMPUTER ENGINEERING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6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10"/>
                        </a:lnSpc>
                      </a:pPr>
                      <a:r>
                        <a:rPr spc="-53" sz="1100">
                          <a:solidFill>
                            <a:srgbClr val="000000"/>
                          </a:solidFill>
                          <a:latin typeface="Noto Serif"/>
                        </a:rPr>
                        <a:t>Semester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6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6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10"/>
                        </a:lnSpc>
                      </a:pPr>
                      <a:r>
                        <a:rPr spc="-26" sz="1100">
                          <a:solidFill>
                            <a:srgbClr val="000000"/>
                          </a:solidFill>
                          <a:latin typeface="Noto Serif"/>
                        </a:rPr>
                        <a:t>7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6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6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10"/>
                        </a:lnSpc>
                      </a:pPr>
                      <a:r>
                        <a:rPr spc="-64" sz="1100">
                          <a:solidFill>
                            <a:srgbClr val="000000"/>
                          </a:solidFill>
                          <a:latin typeface="Noto Serif"/>
                        </a:rPr>
                        <a:t>Contact Number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6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10"/>
                        </a:lnSpc>
                      </a:pPr>
                      <a:r>
                        <a:rPr spc="-9" sz="1100">
                          <a:solidFill>
                            <a:srgbClr val="000000"/>
                          </a:solidFill>
                          <a:latin typeface="Noto Serif"/>
                        </a:rPr>
                        <a:t>9313779161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6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4009"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61" sz="1100">
                          <a:solidFill>
                            <a:srgbClr val="000000"/>
                          </a:solidFill>
                          <a:latin typeface="Noto Serif"/>
                        </a:rPr>
                        <a:t>Email ID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41" sz="1100">
                          <a:solidFill>
                            <a:srgbClr val="000000"/>
                          </a:solidFill>
                          <a:latin typeface="Noto Serif"/>
                        </a:rPr>
                        <a:t>23se02ce056@ppsu.ac.in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94860"/>
            <a:ext cx="2843529" cy="1638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2" b="1" sz="1300">
                <a:solidFill>
                  <a:srgbClr val="000000"/>
                </a:solidFill>
                <a:latin typeface="Noto Serif"/>
              </a:rPr>
              <a:t>2. Internship / UDP / Training Details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9740" y="4922520"/>
          <a:ext cx="6854189" cy="2339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7730"/>
                <a:gridCol w="3426459"/>
              </a:tblGrid>
              <a:tr h="336550">
                <a:tc>
                  <a:txBody>
                    <a:bodyPr/>
                    <a:lstStyle/>
                    <a:p>
                      <a:pPr>
                        <a:lnSpc>
                          <a:spcPts val="18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50" sz="1100">
                          <a:solidFill>
                            <a:srgbClr val="000000"/>
                          </a:solidFill>
                          <a:latin typeface="Noto Serif"/>
                        </a:rPr>
                        <a:t>Type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59" sz="1100">
                          <a:solidFill>
                            <a:srgbClr val="000000"/>
                          </a:solidFill>
                          <a:latin typeface="Noto Serif"/>
                        </a:rPr>
                        <a:t>INTERNSHIP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4009"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55" sz="1100">
                          <a:solidFill>
                            <a:srgbClr val="000000"/>
                          </a:solidFill>
                          <a:latin typeface="Noto Serif"/>
                        </a:rPr>
                        <a:t>Company/Organization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67" sz="1100">
                          <a:solidFill>
                            <a:srgbClr val="000000"/>
                          </a:solidFill>
                          <a:latin typeface="Noto Serif"/>
                        </a:rPr>
                        <a:t>DURVASA INFOTECH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52" sz="1100">
                          <a:solidFill>
                            <a:srgbClr val="000000"/>
                          </a:solidFill>
                          <a:latin typeface="Noto Serif"/>
                        </a:rPr>
                        <a:t>Department/Domain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49" sz="1100">
                          <a:solidFill>
                            <a:srgbClr val="000000"/>
                          </a:solidFill>
                          <a:latin typeface="Noto Serif"/>
                        </a:rPr>
                        <a:t>PYTHON DATA SCIENCE (AI / ML)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4009">
                <a:tc>
                  <a:txBody>
                    <a:bodyPr/>
                    <a:lstStyle/>
                    <a:p>
                      <a:pPr>
                        <a:lnSpc>
                          <a:spcPts val="17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62" sz="1100">
                          <a:solidFill>
                            <a:srgbClr val="000000"/>
                          </a:solidFill>
                          <a:latin typeface="Noto Serif"/>
                        </a:rPr>
                        <a:t>Mentor Name (Company)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81" sz="1100">
                          <a:solidFill>
                            <a:srgbClr val="000000"/>
                          </a:solidFill>
                          <a:latin typeface="Noto Serif"/>
                        </a:rPr>
                        <a:t>DARSHAN CHAUHAN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10"/>
                        </a:lnSpc>
                      </a:pPr>
                      <a:r>
                        <a:rPr spc="-51" sz="1100">
                          <a:solidFill>
                            <a:srgbClr val="000000"/>
                          </a:solidFill>
                          <a:latin typeface="Noto Serif"/>
                        </a:rPr>
                        <a:t>Mentor Name (Institute)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6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10"/>
                        </a:lnSpc>
                      </a:pPr>
                      <a:r>
                        <a:rPr spc="-59" sz="1100">
                          <a:solidFill>
                            <a:srgbClr val="000000"/>
                          </a:solidFill>
                          <a:latin typeface="Noto Serif"/>
                        </a:rPr>
                        <a:t>DR. JAYSHRI PATIL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6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4009"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10"/>
                        </a:lnSpc>
                      </a:pPr>
                      <a:r>
                        <a:rPr spc="-48" sz="1100">
                          <a:solidFill>
                            <a:srgbClr val="000000"/>
                          </a:solidFill>
                          <a:latin typeface="Noto Serif"/>
                        </a:rPr>
                        <a:t>Start Date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6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10"/>
                        </a:lnSpc>
                      </a:pPr>
                      <a:r>
                        <a:rPr spc="31" sz="1100">
                          <a:solidFill>
                            <a:srgbClr val="000000"/>
                          </a:solidFill>
                          <a:latin typeface="Noto Serif"/>
                        </a:rPr>
                        <a:t>01/06/2026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6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4009"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58" sz="1100">
                          <a:solidFill>
                            <a:srgbClr val="000000"/>
                          </a:solidFill>
                          <a:latin typeface="Noto Serif"/>
                        </a:rPr>
                        <a:t>End Date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31" sz="1100">
                          <a:solidFill>
                            <a:srgbClr val="000000"/>
                          </a:solidFill>
                          <a:latin typeface="Noto Serif"/>
                        </a:rPr>
                        <a:t>15/10/2026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603490"/>
            <a:ext cx="20713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b="1" sz="1300">
                <a:solidFill>
                  <a:srgbClr val="000000"/>
                </a:solidFill>
                <a:latin typeface="Noto Serif"/>
              </a:rPr>
              <a:t>3. Work Progress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951470"/>
            <a:ext cx="10934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0" b="1" sz="1100">
                <a:solidFill>
                  <a:srgbClr val="000000"/>
                </a:solidFill>
                <a:latin typeface="Noto Serif"/>
              </a:rPr>
              <a:t>a)</a:t>
            </a:r>
            <a:r>
              <a:rPr spc="-44" b="1" sz="1100">
                <a:solidFill>
                  <a:srgbClr val="000000"/>
                </a:solidFill>
                <a:latin typeface="Noto Serif"/>
              </a:rPr>
              <a:t>Project Title: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412480"/>
            <a:ext cx="576072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b="1" sz="1600">
                <a:solidFill>
                  <a:srgbClr val="000000"/>
                </a:solidFill>
                <a:latin typeface="Noto Serif"/>
              </a:rPr>
              <a:t>Smart Healthcare Analytics Dashboard for Disease Prediction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700" y="171450"/>
            <a:ext cx="3479800" cy="736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7350" y="171450"/>
            <a:ext cx="1835150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18050"/>
            <a:ext cx="6858000" cy="1473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2720"/>
            <a:ext cx="6859270" cy="8851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242060"/>
            <a:ext cx="15405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7" b="1" sz="1100">
                <a:solidFill>
                  <a:srgbClr val="000000"/>
                </a:solidFill>
                <a:latin typeface="Noto Serif"/>
              </a:rPr>
              <a:t>b)</a:t>
            </a:r>
            <a:r>
              <a:rPr spc="-56" b="1" sz="1100">
                <a:solidFill>
                  <a:srgbClr val="000000"/>
                </a:solidFill>
                <a:latin typeface="Noto Serif"/>
              </a:rPr>
              <a:t>Problem Statement: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4180"/>
            <a:ext cx="641730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6" sz="1100">
                <a:solidFill>
                  <a:srgbClr val="000000"/>
                </a:solidFill>
                <a:latin typeface="Noto Serif"/>
              </a:rPr>
              <a:t>Nowadays, many people do not know about their health risks at an early stage. Diseases like diabetes, heart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1839"/>
            <a:ext cx="68351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100">
                <a:solidFill>
                  <a:srgbClr val="000000"/>
                </a:solidFill>
                <a:latin typeface="Noto Serif"/>
              </a:rPr>
              <a:t>disease, and blood pressure problems are increasing day by day. Early prediction can help people take proper care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9500"/>
            <a:ext cx="66408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100">
                <a:solidFill>
                  <a:srgbClr val="000000"/>
                </a:solidFill>
                <a:latin typeface="Noto Serif"/>
              </a:rPr>
              <a:t>of their health. This project will help in analyzing health data and predicting disease risks using AI and Machine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78430"/>
            <a:ext cx="591819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1100">
                <a:solidFill>
                  <a:srgbClr val="000000"/>
                </a:solidFill>
                <a:latin typeface="Noto Serif"/>
              </a:rPr>
              <a:t>Learning.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31820"/>
            <a:ext cx="9677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5" b="1" sz="1100">
                <a:solidFill>
                  <a:srgbClr val="000000"/>
                </a:solidFill>
                <a:latin typeface="Noto Serif"/>
              </a:rPr>
              <a:t>c)</a:t>
            </a:r>
            <a:r>
              <a:rPr spc="-53" b="1" sz="1100">
                <a:solidFill>
                  <a:srgbClr val="000000"/>
                </a:solidFill>
                <a:latin typeface="Noto Serif"/>
              </a:rPr>
              <a:t>Objectives: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64560"/>
            <a:ext cx="6477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67100"/>
            <a:ext cx="19024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5" sz="1100">
                <a:solidFill>
                  <a:srgbClr val="000000"/>
                </a:solidFill>
                <a:latin typeface="Noto Serif"/>
              </a:rPr>
              <a:t> To analyze health-related data.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9840"/>
            <a:ext cx="6477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2379"/>
            <a:ext cx="22428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100">
                <a:solidFill>
                  <a:srgbClr val="000000"/>
                </a:solidFill>
                <a:latin typeface="Noto Serif"/>
              </a:rPr>
              <a:t>To predict disease risks using AI/ML.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35120"/>
            <a:ext cx="6477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37660"/>
            <a:ext cx="25095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100">
                <a:solidFill>
                  <a:srgbClr val="000000"/>
                </a:solidFill>
                <a:latin typeface="Noto Serif"/>
              </a:rPr>
              <a:t>To create a dashboard for health analysis.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70400"/>
            <a:ext cx="6477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72940"/>
            <a:ext cx="32207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100">
                <a:solidFill>
                  <a:srgbClr val="000000"/>
                </a:solidFill>
                <a:latin typeface="Noto Serif"/>
              </a:rPr>
              <a:t>To provide health suggestions and recommendations.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05680"/>
            <a:ext cx="6477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8220"/>
            <a:ext cx="28219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3" sz="1100">
                <a:solidFill>
                  <a:srgbClr val="000000"/>
                </a:solidFill>
                <a:latin typeface="Noto Serif"/>
              </a:rPr>
              <a:t>To help users track their daily health activities.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35880"/>
            <a:ext cx="17818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2" b="1" sz="1100">
                <a:solidFill>
                  <a:srgbClr val="000000"/>
                </a:solidFill>
                <a:latin typeface="Noto Serif"/>
              </a:rPr>
              <a:t>d)</a:t>
            </a:r>
            <a:r>
              <a:rPr spc="-51" b="1" sz="1100">
                <a:solidFill>
                  <a:srgbClr val="000000"/>
                </a:solidFill>
                <a:latin typeface="Noto Serif"/>
              </a:rPr>
              <a:t>Proposed Methodology: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6989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71160"/>
            <a:ext cx="15938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3" sz="1100">
                <a:solidFill>
                  <a:srgbClr val="000000"/>
                </a:solidFill>
                <a:latin typeface="Noto Serif"/>
              </a:rPr>
              <a:t>Collect healthcare dataset.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0517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6459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sz="1100">
                <a:solidFill>
                  <a:srgbClr val="000000"/>
                </a:solidFill>
                <a:latin typeface="Noto Serif"/>
              </a:rPr>
              <a:t>Clean and analyze the data.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4045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141720"/>
            <a:ext cx="18554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1100">
                <a:solidFill>
                  <a:srgbClr val="000000"/>
                </a:solidFill>
                <a:latin typeface="Noto Serif"/>
              </a:rPr>
              <a:t>Train machine learning model.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7573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477000"/>
            <a:ext cx="26924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" sz="1100">
                <a:solidFill>
                  <a:srgbClr val="000000"/>
                </a:solidFill>
                <a:latin typeface="Noto Serif"/>
              </a:rPr>
              <a:t>Build dashboard using Python and Streamlit.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811009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812280"/>
            <a:ext cx="28397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3" sz="1100">
                <a:solidFill>
                  <a:srgbClr val="000000"/>
                </a:solidFill>
                <a:latin typeface="Noto Serif"/>
              </a:rPr>
              <a:t>Predict disease risks based on user health data.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7147559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7148830"/>
            <a:ext cx="281432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5" sz="1100">
                <a:solidFill>
                  <a:srgbClr val="000000"/>
                </a:solidFill>
                <a:latin typeface="Noto Serif"/>
              </a:rPr>
              <a:t>Provide suggestions and daily tracking system.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" y="171450"/>
            <a:ext cx="3479800" cy="736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7350" y="171450"/>
            <a:ext cx="1835150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18050"/>
            <a:ext cx="6858000" cy="1473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2720"/>
            <a:ext cx="6859270" cy="8851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" y="5020310"/>
            <a:ext cx="6894830" cy="2247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" y="7837170"/>
            <a:ext cx="6894830" cy="22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39520"/>
            <a:ext cx="155448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" b="1" sz="1100">
                <a:solidFill>
                  <a:srgbClr val="000000"/>
                </a:solidFill>
                <a:latin typeface="Noto Serif"/>
              </a:rPr>
              <a:t>e)</a:t>
            </a:r>
            <a:r>
              <a:rPr spc="-61" b="1" sz="1100">
                <a:solidFill>
                  <a:srgbClr val="000000"/>
                </a:solidFill>
                <a:latin typeface="Noto Serif"/>
              </a:rPr>
              <a:t>Expected Outcomes: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353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4800"/>
            <a:ext cx="187960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100">
                <a:solidFill>
                  <a:srgbClr val="000000"/>
                </a:solidFill>
                <a:latin typeface="Noto Serif"/>
              </a:rPr>
              <a:t>Disease risk prediction system.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0881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10080"/>
            <a:ext cx="1748789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1100">
                <a:solidFill>
                  <a:srgbClr val="000000"/>
                </a:solidFill>
                <a:latin typeface="Noto Serif"/>
              </a:rPr>
              <a:t>Smart healthcare dashboard.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409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5360"/>
            <a:ext cx="212979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sz="1100">
                <a:solidFill>
                  <a:srgbClr val="000000"/>
                </a:solidFill>
                <a:latin typeface="Noto Serif"/>
              </a:rPr>
              <a:t>Health recommendations for users.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7937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80640"/>
            <a:ext cx="2811779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" sz="1100">
                <a:solidFill>
                  <a:srgbClr val="000000"/>
                </a:solidFill>
                <a:latin typeface="Noto Serif"/>
              </a:rPr>
              <a:t>Daily health tracking and progress monitoring.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08300"/>
            <a:ext cx="113792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9" b="1" sz="1100">
                <a:solidFill>
                  <a:srgbClr val="000000"/>
                </a:solidFill>
                <a:latin typeface="Noto Serif"/>
              </a:rPr>
              <a:t>f)</a:t>
            </a:r>
            <a:r>
              <a:rPr spc="-56" b="1" sz="1100">
                <a:solidFill>
                  <a:srgbClr val="000000"/>
                </a:solidFill>
                <a:latin typeface="Noto Serif"/>
              </a:rPr>
              <a:t>Future Scope: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42310"/>
            <a:ext cx="6477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44850"/>
            <a:ext cx="21729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100">
                <a:solidFill>
                  <a:srgbClr val="000000"/>
                </a:solidFill>
                <a:latin typeface="Noto Serif"/>
              </a:rPr>
              <a:t>Cloud deployment for online access.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77590"/>
            <a:ext cx="6477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80129"/>
            <a:ext cx="227203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3" sz="1100">
                <a:solidFill>
                  <a:srgbClr val="000000"/>
                </a:solidFill>
                <a:latin typeface="Noto Serif"/>
              </a:rPr>
              <a:t>Multi-user support with login system.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12870"/>
            <a:ext cx="6477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15410"/>
            <a:ext cx="26644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sz="1100">
                <a:solidFill>
                  <a:srgbClr val="000000"/>
                </a:solidFill>
                <a:latin typeface="Noto Serif"/>
              </a:rPr>
              <a:t>Friend comparison and leaderboard system.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48150"/>
            <a:ext cx="6477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50690"/>
            <a:ext cx="27889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100">
                <a:solidFill>
                  <a:srgbClr val="000000"/>
                </a:solidFill>
                <a:latin typeface="Noto Serif"/>
              </a:rPr>
              <a:t>Reward and coupon-based motivation system.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584700"/>
            <a:ext cx="6477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87240"/>
            <a:ext cx="32423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100">
                <a:solidFill>
                  <a:srgbClr val="000000"/>
                </a:solidFill>
                <a:latin typeface="Noto Serif"/>
              </a:rPr>
              <a:t>Integration with wearable devices and health sensors.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44440"/>
            <a:ext cx="1715770" cy="1638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b="1" sz="1300">
                <a:solidFill>
                  <a:srgbClr val="000000"/>
                </a:solidFill>
                <a:latin typeface="Noto Serif"/>
              </a:rPr>
              <a:t>4. Tasks Accomplished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39623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97500"/>
            <a:ext cx="224790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100">
                <a:solidFill>
                  <a:srgbClr val="000000"/>
                </a:solidFill>
                <a:latin typeface="Noto Serif"/>
              </a:rPr>
              <a:t>Internship project domains explored.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3151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32780"/>
            <a:ext cx="225806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5" sz="1100">
                <a:solidFill>
                  <a:srgbClr val="000000"/>
                </a:solidFill>
                <a:latin typeface="Noto Serif"/>
              </a:rPr>
              <a:t>Project ideas discussed and analyzed.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06679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068060"/>
            <a:ext cx="263144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sz="1100">
                <a:solidFill>
                  <a:srgbClr val="000000"/>
                </a:solidFill>
                <a:latin typeface="Noto Serif"/>
              </a:rPr>
              <a:t>Final project selected. Project title finalized.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0207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403340"/>
            <a:ext cx="1983739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100">
                <a:solidFill>
                  <a:srgbClr val="000000"/>
                </a:solidFill>
                <a:latin typeface="Noto Serif"/>
              </a:rPr>
              <a:t>Features and modules identified.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73735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738620"/>
            <a:ext cx="1659889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5" sz="1100">
                <a:solidFill>
                  <a:srgbClr val="000000"/>
                </a:solidFill>
                <a:latin typeface="Noto Serif"/>
              </a:rPr>
              <a:t>Project workflow designed.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707263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7073900"/>
            <a:ext cx="2481579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1" sz="1100">
                <a:solidFill>
                  <a:srgbClr val="000000"/>
                </a:solidFill>
                <a:latin typeface="Noto Serif"/>
              </a:rPr>
              <a:t>Offline/local server architecture decided.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7861300"/>
            <a:ext cx="23876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9" b="1" sz="1300">
                <a:solidFill>
                  <a:srgbClr val="000000"/>
                </a:solidFill>
                <a:latin typeface="Noto Serif"/>
              </a:rPr>
              <a:t>5. Tasks in Progress / Next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821182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8213090"/>
            <a:ext cx="112395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9" sz="1100">
                <a:solidFill>
                  <a:srgbClr val="000000"/>
                </a:solidFill>
                <a:latin typeface="Noto Serif"/>
              </a:rPr>
              <a:t>Dataset collection.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854710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8548370"/>
            <a:ext cx="217551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100">
                <a:solidFill>
                  <a:srgbClr val="000000"/>
                </a:solidFill>
                <a:latin typeface="Noto Serif"/>
              </a:rPr>
              <a:t>Dataset preprocessing and cleaning.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888238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8883650"/>
            <a:ext cx="20637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sz="1100">
                <a:solidFill>
                  <a:srgbClr val="000000"/>
                </a:solidFill>
                <a:latin typeface="Noto Serif"/>
              </a:rPr>
              <a:t>Machine learning model selection.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921893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9220200"/>
            <a:ext cx="2494279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100">
                <a:solidFill>
                  <a:srgbClr val="000000"/>
                </a:solidFill>
                <a:latin typeface="Noto Serif"/>
              </a:rPr>
              <a:t>Initial UI design planning using Streamlit.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00" y="171450"/>
            <a:ext cx="3479800" cy="7366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7350" y="171450"/>
            <a:ext cx="1835150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18050"/>
            <a:ext cx="6858000" cy="1473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2720"/>
            <a:ext cx="6859270" cy="8851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" y="2131060"/>
            <a:ext cx="6894830" cy="222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153920"/>
            <a:ext cx="22263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4" b="1" sz="1300">
                <a:solidFill>
                  <a:srgbClr val="000000"/>
                </a:solidFill>
                <a:latin typeface="Noto Serif"/>
              </a:rPr>
              <a:t>6. Learnings / Skills Acquired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04440"/>
            <a:ext cx="6477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06980"/>
            <a:ext cx="3187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sz="1100">
                <a:solidFill>
                  <a:srgbClr val="000000"/>
                </a:solidFill>
                <a:latin typeface="Noto Serif"/>
              </a:rPr>
              <a:t>Understanding of AI/ML healthcare project planning.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9720"/>
            <a:ext cx="6477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42260"/>
            <a:ext cx="29527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" sz="1100">
                <a:solidFill>
                  <a:srgbClr val="000000"/>
                </a:solidFill>
                <a:latin typeface="Noto Serif"/>
              </a:rPr>
              <a:t>Knowledge of project architecture and workflow.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75000"/>
            <a:ext cx="6477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77540"/>
            <a:ext cx="28981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100">
                <a:solidFill>
                  <a:srgbClr val="000000"/>
                </a:solidFill>
                <a:latin typeface="Noto Serif"/>
              </a:rPr>
              <a:t>Basic understanding of local server deployment.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12820"/>
            <a:ext cx="6477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0" sz="1100">
                <a:solidFill>
                  <a:srgbClr val="000000"/>
                </a:solidFill>
                <a:latin typeface="Noto Sans Symbols"/>
              </a:rPr>
              <a:t>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14090"/>
            <a:ext cx="36220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sz="1100">
                <a:solidFill>
                  <a:srgbClr val="000000"/>
                </a:solidFill>
                <a:latin typeface="Noto Serif"/>
              </a:rPr>
              <a:t>Improved knowledge in project design and module planning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68750"/>
            <a:ext cx="9131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b="1" sz="1200">
                <a:solidFill>
                  <a:srgbClr val="000000"/>
                </a:solidFill>
                <a:latin typeface="Noto Serif"/>
              </a:rPr>
              <a:t>Gantt Chart :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00" y="171450"/>
            <a:ext cx="3479800" cy="736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7350" y="171450"/>
            <a:ext cx="1835150" cy="552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883150"/>
            <a:ext cx="6858000" cy="4578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18050"/>
            <a:ext cx="6858000" cy="1473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2720"/>
            <a:ext cx="6859270" cy="8851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242060"/>
            <a:ext cx="876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" b="1" sz="1200">
                <a:solidFill>
                  <a:srgbClr val="000000"/>
                </a:solidFill>
                <a:latin typeface="Noto Serif"/>
              </a:rPr>
              <a:t>PERT Chart 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" y="171450"/>
            <a:ext cx="3479800" cy="736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7350" y="171450"/>
            <a:ext cx="1835150" cy="552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701800"/>
            <a:ext cx="6858000" cy="4578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18050"/>
            <a:ext cx="6858000" cy="1473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2720"/>
            <a:ext cx="6859270" cy="8851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" y="1220470"/>
            <a:ext cx="6894830" cy="2235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20" y="7071359"/>
            <a:ext cx="6894830" cy="222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44600"/>
            <a:ext cx="34734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" b="1" sz="1300">
                <a:solidFill>
                  <a:srgbClr val="000000"/>
                </a:solidFill>
                <a:latin typeface="Noto Serif"/>
              </a:rPr>
              <a:t>Evaluation (To be filled by Mentor (Institute))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3550" y="1576070"/>
          <a:ext cx="6846568" cy="45821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9180"/>
                <a:gridCol w="988059"/>
                <a:gridCol w="1047750"/>
                <a:gridCol w="739139"/>
                <a:gridCol w="1168400"/>
                <a:gridCol w="923290"/>
                <a:gridCol w="920750"/>
              </a:tblGrid>
              <a:tr h="543560">
                <a:tc>
                  <a:txBody>
                    <a:bodyPr/>
                    <a:lstStyle/>
                    <a:p>
                      <a:pPr>
                        <a:lnSpc>
                          <a:spcPts val="163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-59" b="1" sz="1100">
                          <a:solidFill>
                            <a:srgbClr val="000000"/>
                          </a:solidFill>
                          <a:latin typeface="Noto Serif"/>
                        </a:rPr>
                        <a:t>Criteria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algn="ctr">
                        <a:lnSpc>
                          <a:spcPts val="1290"/>
                        </a:lnSpc>
                      </a:pPr>
                      <a:r>
                        <a:rPr spc="-49" b="1" sz="1100">
                          <a:solidFill>
                            <a:srgbClr val="000000"/>
                          </a:solidFill>
                          <a:latin typeface="Noto Serif"/>
                        </a:rPr>
                        <a:t>Bloom’s </a:t>
                      </a:r>
                      <a:br/>
                      <a:r>
                        <a:rPr spc="-63" b="1" sz="1100">
                          <a:solidFill>
                            <a:srgbClr val="000000"/>
                          </a:solidFill>
                          <a:latin typeface="Noto Serif"/>
                        </a:rPr>
                        <a:t>Level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3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-39" b="1" sz="1100">
                          <a:solidFill>
                            <a:srgbClr val="000000"/>
                          </a:solidFill>
                          <a:latin typeface="Noto Serif"/>
                        </a:rPr>
                        <a:t>Excellent (20)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285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algn="ctr">
                        <a:lnSpc>
                          <a:spcPts val="1290"/>
                        </a:lnSpc>
                      </a:pPr>
                      <a:r>
                        <a:rPr spc="-67" b="1" sz="1100">
                          <a:solidFill>
                            <a:srgbClr val="000000"/>
                          </a:solidFill>
                          <a:latin typeface="Noto Serif"/>
                        </a:rPr>
                        <a:t>Good </a:t>
                      </a:r>
                      <a:br/>
                      <a:r>
                        <a:rPr spc="8" b="1" sz="1100">
                          <a:solidFill>
                            <a:srgbClr val="000000"/>
                          </a:solidFill>
                          <a:latin typeface="Noto Serif"/>
                        </a:rPr>
                        <a:t>(15) </a:t>
                      </a:r>
                    </a:p>
                  </a:txBody>
                  <a:tcPr marL="0" marR="0" marT="0" marB="0" vert="horz">
                    <a:lnL w="285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285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3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-36" b="1" sz="1100">
                          <a:solidFill>
                            <a:srgbClr val="000000"/>
                          </a:solidFill>
                          <a:latin typeface="Noto Serif"/>
                        </a:rPr>
                        <a:t>Average (10) </a:t>
                      </a:r>
                    </a:p>
                  </a:txBody>
                  <a:tcPr marL="0" marR="0" marT="0" marB="0" vert="horz">
                    <a:lnL w="285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3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-25" b="1" sz="1100">
                          <a:solidFill>
                            <a:srgbClr val="000000"/>
                          </a:solidFill>
                          <a:latin typeface="Noto Serif"/>
                        </a:rPr>
                        <a:t>Poor (5)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algn="ctr">
                        <a:lnSpc>
                          <a:spcPts val="1290"/>
                        </a:lnSpc>
                      </a:pPr>
                      <a:r>
                        <a:rPr spc="-63" b="1" sz="1100">
                          <a:solidFill>
                            <a:srgbClr val="000000"/>
                          </a:solidFill>
                          <a:latin typeface="Noto Serif"/>
                        </a:rPr>
                        <a:t>Marks </a:t>
                      </a:r>
                      <a:br/>
                      <a:r>
                        <a:rPr spc="-59" b="1" sz="1100">
                          <a:solidFill>
                            <a:srgbClr val="000000"/>
                          </a:solidFill>
                          <a:latin typeface="Noto Serif"/>
                        </a:rPr>
                        <a:t>Obtained </a:t>
                      </a:r>
                      <a:br/>
                      <a:r>
                        <a:rPr spc="-33" b="1" sz="1100">
                          <a:solidFill>
                            <a:srgbClr val="000000"/>
                          </a:solidFill>
                          <a:latin typeface="Noto Serif"/>
                        </a:rPr>
                        <a:t>(Out of 20)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44219"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</a:p>
                    <a:p>
                      <a:pPr marL="64769" algn="l">
                        <a:lnSpc>
                          <a:spcPts val="1290"/>
                        </a:lnSpc>
                      </a:pPr>
                      <a:r>
                        <a:rPr spc="-60" sz="1100">
                          <a:solidFill>
                            <a:srgbClr val="000000"/>
                          </a:solidFill>
                          <a:latin typeface="Noto Serif"/>
                        </a:rPr>
                        <a:t>Problem </a:t>
                      </a:r>
                      <a:br/>
                      <a:r>
                        <a:rPr spc="-57" sz="1100">
                          <a:solidFill>
                            <a:srgbClr val="000000"/>
                          </a:solidFill>
                          <a:latin typeface="Noto Serif"/>
                        </a:rPr>
                        <a:t>Definition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0"/>
                        </a:lnSpc>
                      </a:pPr>
                    </a:p>
                    <a:p>
                      <a:pPr marL="64769" algn="l">
                        <a:lnSpc>
                          <a:spcPts val="1110"/>
                        </a:lnSpc>
                      </a:pPr>
                      <a:r>
                        <a:rPr spc="-59" sz="1100">
                          <a:solidFill>
                            <a:srgbClr val="000000"/>
                          </a:solidFill>
                          <a:latin typeface="Noto Serif"/>
                        </a:rPr>
                        <a:t>L4–Analyze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00"/>
                        </a:lnSpc>
                      </a:pPr>
                    </a:p>
                    <a:p>
                      <a:pPr marL="66040" algn="l">
                        <a:lnSpc>
                          <a:spcPts val="1290"/>
                        </a:lnSpc>
                      </a:pPr>
                      <a:r>
                        <a:rPr spc="-56" sz="1100">
                          <a:solidFill>
                            <a:srgbClr val="000000"/>
                          </a:solidFill>
                          <a:latin typeface="Noto Serif"/>
                        </a:rPr>
                        <a:t>Clearly </a:t>
                      </a:r>
                      <a:br/>
                      <a:r>
                        <a:rPr spc="-60" sz="1100">
                          <a:solidFill>
                            <a:srgbClr val="000000"/>
                          </a:solidFill>
                          <a:latin typeface="Noto Serif"/>
                        </a:rPr>
                        <a:t>defined, </a:t>
                      </a:r>
                      <a:br/>
                      <a:r>
                        <a:rPr spc="-47" sz="1100">
                          <a:solidFill>
                            <a:srgbClr val="000000"/>
                          </a:solidFill>
                          <a:latin typeface="Noto Serif"/>
                        </a:rPr>
                        <a:t>justified real-</a:t>
                      </a:r>
                      <a:br/>
                      <a:r>
                        <a:rPr spc="-63" sz="1100">
                          <a:solidFill>
                            <a:srgbClr val="000000"/>
                          </a:solidFill>
                          <a:latin typeface="Noto Serif"/>
                        </a:rPr>
                        <a:t>world problem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285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66040" algn="l">
                        <a:lnSpc>
                          <a:spcPts val="1290"/>
                        </a:lnSpc>
                      </a:pPr>
                      <a:r>
                        <a:rPr spc="-61" sz="1100">
                          <a:solidFill>
                            <a:srgbClr val="000000"/>
                          </a:solidFill>
                          <a:latin typeface="Noto Serif"/>
                        </a:rPr>
                        <a:t>Defined </a:t>
                      </a:r>
                      <a:br/>
                      <a:r>
                        <a:rPr spc="-52" sz="1100">
                          <a:solidFill>
                            <a:srgbClr val="000000"/>
                          </a:solidFill>
                          <a:latin typeface="Noto Serif"/>
                        </a:rPr>
                        <a:t>but lacks </a:t>
                      </a:r>
                      <a:br/>
                      <a:r>
                        <a:rPr spc="-56" sz="1100">
                          <a:solidFill>
                            <a:srgbClr val="000000"/>
                          </a:solidFill>
                          <a:latin typeface="Noto Serif"/>
                        </a:rPr>
                        <a:t>depth </a:t>
                      </a:r>
                    </a:p>
                  </a:txBody>
                  <a:tcPr marL="0" marR="0" marT="0" marB="0" vert="horz">
                    <a:lnL w="285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285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0"/>
                        </a:lnSpc>
                      </a:pPr>
                    </a:p>
                    <a:p>
                      <a:pPr marL="67310" algn="l">
                        <a:lnSpc>
                          <a:spcPts val="1110"/>
                        </a:lnSpc>
                      </a:pPr>
                      <a:r>
                        <a:rPr spc="-65" sz="1100">
                          <a:solidFill>
                            <a:srgbClr val="000000"/>
                          </a:solidFill>
                          <a:latin typeface="Noto Serif"/>
                        </a:rPr>
                        <a:t>Vague problem </a:t>
                      </a:r>
                    </a:p>
                  </a:txBody>
                  <a:tcPr marL="0" marR="0" marT="0" marB="0" vert="horz">
                    <a:lnL w="285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</a:p>
                    <a:p>
                      <a:pPr marL="66040" algn="l">
                        <a:lnSpc>
                          <a:spcPts val="1290"/>
                        </a:lnSpc>
                      </a:pPr>
                      <a:r>
                        <a:rPr spc="-58" sz="1100">
                          <a:solidFill>
                            <a:srgbClr val="000000"/>
                          </a:solidFill>
                          <a:latin typeface="Noto Serif"/>
                        </a:rPr>
                        <a:t>No clear </a:t>
                      </a:r>
                      <a:br/>
                      <a:r>
                        <a:rPr spc="-64" sz="1100">
                          <a:solidFill>
                            <a:srgbClr val="000000"/>
                          </a:solidFill>
                          <a:latin typeface="Noto Serif"/>
                        </a:rPr>
                        <a:t>problem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3"/>
                        </a:lnSpc>
                      </a:p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44220"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</a:p>
                    <a:p>
                      <a:pPr marL="64769" algn="l">
                        <a:lnSpc>
                          <a:spcPts val="1280"/>
                        </a:lnSpc>
                      </a:pPr>
                      <a:r>
                        <a:rPr spc="-41" sz="1100">
                          <a:solidFill>
                            <a:srgbClr val="000000"/>
                          </a:solidFill>
                          <a:latin typeface="Noto Serif"/>
                        </a:rPr>
                        <a:t>Project Title </a:t>
                      </a:r>
                      <a:br/>
                      <a:r>
                        <a:rPr spc="-60" sz="1100">
                          <a:solidFill>
                            <a:srgbClr val="000000"/>
                          </a:solidFill>
                          <a:latin typeface="Noto Serif"/>
                        </a:rPr>
                        <a:t>Relevance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</a:p>
                    <a:p>
                      <a:pPr marL="64769" algn="l">
                        <a:lnSpc>
                          <a:spcPts val="1280"/>
                        </a:lnSpc>
                      </a:pPr>
                      <a:r>
                        <a:rPr spc="-34" sz="1100">
                          <a:solidFill>
                            <a:srgbClr val="000000"/>
                          </a:solidFill>
                          <a:latin typeface="Noto Serif"/>
                        </a:rPr>
                        <a:t>L2–</a:t>
                      </a:r>
                      <a:br/>
                      <a:r>
                        <a:rPr spc="-63" sz="1100">
                          <a:solidFill>
                            <a:srgbClr val="000000"/>
                          </a:solidFill>
                          <a:latin typeface="Noto Serif"/>
                        </a:rPr>
                        <a:t>Understand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</a:p>
                    <a:p>
                      <a:pPr marL="66040" algn="l">
                        <a:lnSpc>
                          <a:spcPts val="1280"/>
                        </a:lnSpc>
                      </a:pPr>
                      <a:r>
                        <a:rPr spc="-57" sz="1100">
                          <a:solidFill>
                            <a:srgbClr val="000000"/>
                          </a:solidFill>
                          <a:latin typeface="Noto Serif"/>
                        </a:rPr>
                        <a:t>Highly precise </a:t>
                      </a:r>
                      <a:r>
                        <a:rPr spc="-64" sz="1100">
                          <a:solidFill>
                            <a:srgbClr val="000000"/>
                          </a:solidFill>
                          <a:latin typeface="Noto Serif"/>
                        </a:rPr>
                        <a:t>and aligned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285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</a:p>
                    <a:p>
                      <a:pPr marL="66040" algn="l">
                        <a:lnSpc>
                          <a:spcPts val="1280"/>
                        </a:lnSpc>
                      </a:pPr>
                      <a:r>
                        <a:rPr spc="-52" sz="1100">
                          <a:solidFill>
                            <a:srgbClr val="000000"/>
                          </a:solidFill>
                          <a:latin typeface="Noto Serif"/>
                        </a:rPr>
                        <a:t>Mostly </a:t>
                      </a:r>
                      <a:br/>
                      <a:r>
                        <a:rPr spc="-59" sz="1100">
                          <a:solidFill>
                            <a:srgbClr val="000000"/>
                          </a:solidFill>
                          <a:latin typeface="Noto Serif"/>
                        </a:rPr>
                        <a:t>relevant </a:t>
                      </a:r>
                    </a:p>
                  </a:txBody>
                  <a:tcPr marL="0" marR="0" marT="0" marB="0" vert="horz">
                    <a:lnL w="285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285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90"/>
                        </a:lnSpc>
                      </a:pPr>
                    </a:p>
                    <a:p>
                      <a:pPr marL="67310" algn="l">
                        <a:lnSpc>
                          <a:spcPts val="1280"/>
                        </a:lnSpc>
                      </a:pPr>
                      <a:r>
                        <a:rPr spc="-51" sz="1100">
                          <a:solidFill>
                            <a:srgbClr val="000000"/>
                          </a:solidFill>
                          <a:latin typeface="Noto Serif"/>
                        </a:rPr>
                        <a:t>Partially </a:t>
                      </a:r>
                      <a:br/>
                      <a:r>
                        <a:rPr spc="-60" sz="1100">
                          <a:solidFill>
                            <a:srgbClr val="000000"/>
                          </a:solidFill>
                          <a:latin typeface="Noto Serif"/>
                        </a:rPr>
                        <a:t>relevant </a:t>
                      </a:r>
                    </a:p>
                  </a:txBody>
                  <a:tcPr marL="0" marR="0" marT="0" marB="0" vert="horz">
                    <a:lnL w="285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0"/>
                        </a:lnSpc>
                      </a:pPr>
                    </a:p>
                    <a:p>
                      <a:pPr marL="66040" algn="l">
                        <a:lnSpc>
                          <a:spcPts val="1110"/>
                        </a:lnSpc>
                      </a:pPr>
                      <a:r>
                        <a:rPr spc="-62" sz="1100">
                          <a:solidFill>
                            <a:srgbClr val="000000"/>
                          </a:solidFill>
                          <a:latin typeface="Noto Serif"/>
                        </a:rPr>
                        <a:t>Misleading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3"/>
                        </a:lnSpc>
                      </a:p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45489">
                <a:tc>
                  <a:txBody>
                    <a:bodyPr/>
                    <a:lstStyle/>
                    <a:p>
                      <a:pPr>
                        <a:lnSpc>
                          <a:spcPts val="241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-62" sz="1100">
                          <a:solidFill>
                            <a:srgbClr val="000000"/>
                          </a:solidFill>
                          <a:latin typeface="Noto Serif"/>
                        </a:rPr>
                        <a:t>Scope of Work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0"/>
                        </a:lnSpc>
                      </a:pPr>
                    </a:p>
                    <a:p>
                      <a:pPr marL="64769" algn="l">
                        <a:lnSpc>
                          <a:spcPts val="1100"/>
                        </a:lnSpc>
                      </a:pPr>
                      <a:r>
                        <a:rPr spc="-55" sz="1100">
                          <a:solidFill>
                            <a:srgbClr val="000000"/>
                          </a:solidFill>
                          <a:latin typeface="Noto Serif"/>
                        </a:rPr>
                        <a:t>L5–Evaluate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90"/>
                        </a:lnSpc>
                      </a:pPr>
                    </a:p>
                    <a:p>
                      <a:pPr marL="66040" algn="l">
                        <a:lnSpc>
                          <a:spcPts val="1290"/>
                        </a:lnSpc>
                      </a:pPr>
                      <a:r>
                        <a:rPr spc="-57" sz="1100">
                          <a:solidFill>
                            <a:srgbClr val="000000"/>
                          </a:solidFill>
                          <a:latin typeface="Noto Serif"/>
                        </a:rPr>
                        <a:t>Well-defined </a:t>
                      </a:r>
                      <a:br/>
                      <a:r>
                        <a:rPr spc="-47" sz="1100">
                          <a:solidFill>
                            <a:srgbClr val="000000"/>
                          </a:solidFill>
                          <a:latin typeface="Noto Serif"/>
                        </a:rPr>
                        <a:t>scope, </a:t>
                      </a:r>
                      <a:br/>
                      <a:r>
                        <a:rPr spc="-55" sz="1100">
                          <a:solidFill>
                            <a:srgbClr val="000000"/>
                          </a:solidFill>
                          <a:latin typeface="Noto Serif"/>
                        </a:rPr>
                        <a:t>deliverables, </a:t>
                      </a:r>
                      <a:br/>
                      <a:r>
                        <a:rPr spc="-52" sz="1100">
                          <a:solidFill>
                            <a:srgbClr val="000000"/>
                          </a:solidFill>
                          <a:latin typeface="Noto Serif"/>
                        </a:rPr>
                        <a:t>constraints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285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90"/>
                        </a:lnSpc>
                      </a:pPr>
                    </a:p>
                    <a:p>
                      <a:pPr marL="66040" algn="l">
                        <a:lnSpc>
                          <a:spcPts val="1290"/>
                        </a:lnSpc>
                      </a:pPr>
                      <a:r>
                        <a:rPr spc="-61" sz="1100">
                          <a:solidFill>
                            <a:srgbClr val="000000"/>
                          </a:solidFill>
                          <a:latin typeface="Noto Serif"/>
                        </a:rPr>
                        <a:t>Defined </a:t>
                      </a:r>
                      <a:br/>
                      <a:r>
                        <a:rPr spc="-55" sz="1100">
                          <a:solidFill>
                            <a:srgbClr val="000000"/>
                          </a:solidFill>
                          <a:latin typeface="Noto Serif"/>
                        </a:rPr>
                        <a:t>with </a:t>
                      </a:r>
                      <a:br/>
                      <a:r>
                        <a:rPr spc="-69" sz="1100">
                          <a:solidFill>
                            <a:srgbClr val="000000"/>
                          </a:solidFill>
                          <a:latin typeface="Noto Serif"/>
                        </a:rPr>
                        <a:t>minor </a:t>
                      </a:r>
                      <a:br/>
                      <a:r>
                        <a:rPr spc="-52" sz="1100">
                          <a:solidFill>
                            <a:srgbClr val="000000"/>
                          </a:solidFill>
                          <a:latin typeface="Noto Serif"/>
                        </a:rPr>
                        <a:t>gaps </a:t>
                      </a:r>
                    </a:p>
                  </a:txBody>
                  <a:tcPr marL="0" marR="0" marT="0" marB="0" vert="horz">
                    <a:lnL w="285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285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44" sz="1100">
                          <a:solidFill>
                            <a:srgbClr val="000000"/>
                          </a:solidFill>
                          <a:latin typeface="Noto Serif"/>
                        </a:rPr>
                        <a:t>Broad/unclear </a:t>
                      </a:r>
                    </a:p>
                  </a:txBody>
                  <a:tcPr marL="0" marR="0" marT="0" marB="0" vert="horz">
                    <a:lnL w="285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0"/>
                        </a:lnSpc>
                      </a:pPr>
                    </a:p>
                    <a:p>
                      <a:pPr marL="66040" algn="l">
                        <a:lnSpc>
                          <a:spcPts val="1100"/>
                        </a:lnSpc>
                      </a:pPr>
                      <a:r>
                        <a:rPr spc="-54" sz="1100">
                          <a:solidFill>
                            <a:srgbClr val="000000"/>
                          </a:solidFill>
                          <a:latin typeface="Noto Serif"/>
                        </a:rPr>
                        <a:t>No scope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3"/>
                        </a:lnSpc>
                      </a:p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285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40410">
                <a:tc>
                  <a:txBody>
                    <a:bodyPr/>
                    <a:lstStyle/>
                    <a:p>
                      <a:pPr>
                        <a:lnSpc>
                          <a:spcPts val="1580"/>
                        </a:lnSpc>
                      </a:pPr>
                    </a:p>
                    <a:p>
                      <a:pPr marL="64769" algn="l">
                        <a:lnSpc>
                          <a:spcPts val="1290"/>
                        </a:lnSpc>
                      </a:pPr>
                      <a:r>
                        <a:rPr spc="-56" sz="1100">
                          <a:solidFill>
                            <a:srgbClr val="000000"/>
                          </a:solidFill>
                          <a:latin typeface="Noto Serif"/>
                        </a:rPr>
                        <a:t>Literature </a:t>
                      </a:r>
                      <a:br/>
                      <a:r>
                        <a:rPr spc="-57" sz="1100">
                          <a:solidFill>
                            <a:srgbClr val="000000"/>
                          </a:solidFill>
                          <a:latin typeface="Noto Serif"/>
                        </a:rPr>
                        <a:t>Study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0"/>
                        </a:lnSpc>
                      </a:pPr>
                    </a:p>
                    <a:p>
                      <a:pPr marL="64769" algn="l">
                        <a:lnSpc>
                          <a:spcPts val="1100"/>
                        </a:lnSpc>
                      </a:pPr>
                      <a:r>
                        <a:rPr spc="-59" sz="1100">
                          <a:solidFill>
                            <a:srgbClr val="000000"/>
                          </a:solidFill>
                          <a:latin typeface="Noto Serif"/>
                        </a:rPr>
                        <a:t>L4–Analyze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66040" algn="l">
                        <a:lnSpc>
                          <a:spcPts val="1290"/>
                        </a:lnSpc>
                      </a:pPr>
                      <a:r>
                        <a:rPr spc="-38" sz="1100">
                          <a:solidFill>
                            <a:srgbClr val="000000"/>
                          </a:solidFill>
                          <a:latin typeface="Noto Serif"/>
                        </a:rPr>
                        <a:t>3–5 sources </a:t>
                      </a:r>
                      <a:br/>
                      <a:r>
                        <a:rPr spc="-65" sz="1100">
                          <a:solidFill>
                            <a:srgbClr val="000000"/>
                          </a:solidFill>
                          <a:latin typeface="Noto Serif"/>
                        </a:rPr>
                        <a:t>analyzed </a:t>
                      </a:r>
                      <a:br/>
                      <a:r>
                        <a:rPr spc="-52" sz="1100">
                          <a:solidFill>
                            <a:srgbClr val="000000"/>
                          </a:solidFill>
                          <a:latin typeface="Noto Serif"/>
                        </a:rPr>
                        <a:t>critically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285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80"/>
                        </a:lnSpc>
                      </a:pPr>
                    </a:p>
                    <a:p>
                      <a:pPr marL="66040" algn="l">
                        <a:lnSpc>
                          <a:spcPts val="1290"/>
                        </a:lnSpc>
                      </a:pPr>
                      <a:r>
                        <a:rPr spc="-53" sz="1100">
                          <a:solidFill>
                            <a:srgbClr val="000000"/>
                          </a:solidFill>
                          <a:latin typeface="Noto Serif"/>
                        </a:rPr>
                        <a:t>Sources </a:t>
                      </a:r>
                      <a:br/>
                      <a:r>
                        <a:rPr spc="-41" sz="1100">
                          <a:solidFill>
                            <a:srgbClr val="000000"/>
                          </a:solidFill>
                          <a:latin typeface="Noto Serif"/>
                        </a:rPr>
                        <a:t>listed </a:t>
                      </a:r>
                    </a:p>
                  </a:txBody>
                  <a:tcPr marL="0" marR="0" marT="0" marB="0" vert="horz">
                    <a:lnL w="285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285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80"/>
                        </a:lnSpc>
                      </a:pPr>
                    </a:p>
                    <a:p>
                      <a:pPr marL="67310" algn="l">
                        <a:lnSpc>
                          <a:spcPts val="1290"/>
                        </a:lnSpc>
                      </a:pPr>
                      <a:r>
                        <a:rPr spc="-77" sz="1100">
                          <a:solidFill>
                            <a:srgbClr val="000000"/>
                          </a:solidFill>
                          <a:latin typeface="Noto Serif"/>
                        </a:rPr>
                        <a:t>Minimal </a:t>
                      </a:r>
                      <a:br/>
                      <a:r>
                        <a:rPr spc="-58" sz="1100">
                          <a:solidFill>
                            <a:srgbClr val="000000"/>
                          </a:solidFill>
                          <a:latin typeface="Noto Serif"/>
                        </a:rPr>
                        <a:t>references </a:t>
                      </a:r>
                    </a:p>
                  </a:txBody>
                  <a:tcPr marL="0" marR="0" marT="0" marB="0" vert="horz">
                    <a:lnL w="285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10"/>
                        </a:lnSpc>
                      </a:pPr>
                    </a:p>
                    <a:p>
                      <a:pPr marL="66040" algn="l">
                        <a:lnSpc>
                          <a:spcPts val="1100"/>
                        </a:lnSpc>
                      </a:pPr>
                      <a:r>
                        <a:rPr spc="-55" sz="1100">
                          <a:solidFill>
                            <a:srgbClr val="000000"/>
                          </a:solidFill>
                          <a:latin typeface="Noto Serif"/>
                        </a:rPr>
                        <a:t>No study 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3"/>
                        </a:lnSpc>
                      </a:p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285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27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>
                        <a:lnSpc>
                          <a:spcPts val="1570"/>
                        </a:lnSpc>
                      </a:pPr>
                    </a:p>
                    <a:p>
                      <a:pPr marL="67310" algn="l">
                        <a:lnSpc>
                          <a:spcPts val="1290"/>
                        </a:lnSpc>
                      </a:pPr>
                      <a:r>
                        <a:rPr spc="-52" sz="1100">
                          <a:solidFill>
                            <a:srgbClr val="000000"/>
                          </a:solidFill>
                          <a:latin typeface="Noto Serif"/>
                        </a:rPr>
                        <a:t>Clarity &amp; </a:t>
                      </a:r>
                      <a:br/>
                      <a:r>
                        <a:rPr spc="-52" sz="1100">
                          <a:solidFill>
                            <a:srgbClr val="000000"/>
                          </a:solidFill>
                          <a:latin typeface="Noto Serif"/>
                        </a:rPr>
                        <a:t>Presentation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26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53" sz="1100">
                          <a:solidFill>
                            <a:srgbClr val="000000"/>
                          </a:solidFill>
                          <a:latin typeface="Noto Serif"/>
                        </a:rPr>
                        <a:t>L3–Apply </a:t>
                      </a:r>
                    </a:p>
                  </a:txBody>
                  <a:tcPr marL="0" marR="0" marT="0" marB="0" vert="horz">
                    <a:lnL w="126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0"/>
                        </a:lnSpc>
                      </a:pPr>
                    </a:p>
                    <a:p>
                      <a:pPr marL="67310" algn="l">
                        <a:lnSpc>
                          <a:spcPts val="1290"/>
                        </a:lnSpc>
                      </a:pPr>
                      <a:r>
                        <a:rPr spc="-55" sz="1100">
                          <a:solidFill>
                            <a:srgbClr val="000000"/>
                          </a:solidFill>
                          <a:latin typeface="Noto Serif"/>
                        </a:rPr>
                        <a:t>Structured, </a:t>
                      </a:r>
                      <a:br/>
                      <a:r>
                        <a:rPr spc="-55" sz="1100">
                          <a:solidFill>
                            <a:srgbClr val="000000"/>
                          </a:solidFill>
                          <a:latin typeface="Noto Serif"/>
                        </a:rPr>
                        <a:t>professional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70"/>
                        </a:lnSpc>
                      </a:pPr>
                    </a:p>
                    <a:p>
                      <a:pPr marL="67310" algn="l">
                        <a:lnSpc>
                          <a:spcPts val="1290"/>
                        </a:lnSpc>
                      </a:pPr>
                      <a:r>
                        <a:rPr spc="-71" sz="1100">
                          <a:solidFill>
                            <a:srgbClr val="000000"/>
                          </a:solidFill>
                          <a:latin typeface="Noto Serif"/>
                        </a:rPr>
                        <a:t>Minor </a:t>
                      </a:r>
                      <a:br/>
                      <a:r>
                        <a:rPr spc="-42" sz="1100">
                          <a:solidFill>
                            <a:srgbClr val="000000"/>
                          </a:solidFill>
                          <a:latin typeface="Noto Serif"/>
                        </a:rPr>
                        <a:t>issues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</a:p>
                    <a:p>
                      <a:pPr marL="68580" algn="l">
                        <a:lnSpc>
                          <a:spcPts val="1100"/>
                        </a:lnSpc>
                      </a:pPr>
                      <a:r>
                        <a:rPr spc="-64" sz="1100">
                          <a:solidFill>
                            <a:srgbClr val="000000"/>
                          </a:solidFill>
                          <a:latin typeface="Noto Serif"/>
                        </a:rPr>
                        <a:t>Some confusion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</a:p>
                    <a:p>
                      <a:pPr marL="67310" algn="l">
                        <a:lnSpc>
                          <a:spcPts val="1100"/>
                        </a:lnSpc>
                      </a:pPr>
                      <a:r>
                        <a:rPr spc="-50" sz="1100">
                          <a:solidFill>
                            <a:srgbClr val="000000"/>
                          </a:solidFill>
                          <a:latin typeface="Noto Serif"/>
                        </a:rPr>
                        <a:t>Poor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3"/>
                        </a:lnSpc>
                      </a:pP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27659">
                <a:tc gridSpan="6"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algn="ctr">
                        <a:lnSpc>
                          <a:spcPts val="1110"/>
                        </a:lnSpc>
                      </a:pPr>
                      <a:r>
                        <a:rPr spc="-54" b="1" sz="1100">
                          <a:solidFill>
                            <a:srgbClr val="000000"/>
                          </a:solidFill>
                          <a:latin typeface="Noto Serif"/>
                        </a:rPr>
                        <a:t>Total Marks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3"/>
                        </a:lnSpc>
                      </a:pP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7094220"/>
            <a:ext cx="81406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b="1" sz="1300">
                <a:solidFill>
                  <a:srgbClr val="000000"/>
                </a:solidFill>
                <a:latin typeface="Noto Serif"/>
              </a:rPr>
              <a:t>Evaluation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9740" y="7423150"/>
          <a:ext cx="6854189" cy="8191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284730"/>
                <a:gridCol w="2283459"/>
              </a:tblGrid>
              <a:tr h="334009">
                <a:tc>
                  <a:txBody>
                    <a:bodyPr/>
                    <a:lstStyle/>
                    <a:p>
                      <a:pPr>
                        <a:lnSpc>
                          <a:spcPts val="160"/>
                        </a:lnSpc>
                      </a:pPr>
                    </a:p>
                    <a:p>
                      <a:pPr algn="ctr">
                        <a:lnSpc>
                          <a:spcPts val="1110"/>
                        </a:lnSpc>
                      </a:pPr>
                      <a:r>
                        <a:rPr spc="-58" b="1" sz="1100">
                          <a:solidFill>
                            <a:srgbClr val="000000"/>
                          </a:solidFill>
                          <a:latin typeface="Noto Serif"/>
                        </a:rPr>
                        <a:t>Student Signature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algn="ctr">
                        <a:lnSpc>
                          <a:spcPts val="1280"/>
                        </a:lnSpc>
                      </a:pPr>
                      <a:r>
                        <a:rPr spc="-57" b="1" sz="1100">
                          <a:solidFill>
                            <a:srgbClr val="000000"/>
                          </a:solidFill>
                          <a:latin typeface="Noto Serif"/>
                        </a:rPr>
                        <a:t>Mentor (Company) </a:t>
                      </a:r>
                      <a:br/>
                      <a:r>
                        <a:rPr spc="-58" b="1" sz="1100">
                          <a:solidFill>
                            <a:srgbClr val="000000"/>
                          </a:solidFill>
                          <a:latin typeface="Noto Serif"/>
                        </a:rPr>
                        <a:t>Signature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algn="ctr">
                        <a:lnSpc>
                          <a:spcPts val="1280"/>
                        </a:lnSpc>
                      </a:pPr>
                      <a:r>
                        <a:rPr spc="-48" b="1" sz="1100">
                          <a:solidFill>
                            <a:srgbClr val="000000"/>
                          </a:solidFill>
                          <a:latin typeface="Noto Serif"/>
                        </a:rPr>
                        <a:t>Mentor (Institute) </a:t>
                      </a:r>
                      <a:br/>
                      <a:r>
                        <a:rPr spc="-58" b="1" sz="1100">
                          <a:solidFill>
                            <a:srgbClr val="000000"/>
                          </a:solidFill>
                          <a:latin typeface="Noto Serif"/>
                        </a:rPr>
                        <a:t>Signature </a:t>
                      </a: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27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85140">
                <a:tc>
                  <a:txBody>
                    <a:bodyPr/>
                    <a:lstStyle/>
                    <a:p>
                      <a:pPr>
                        <a:lnSpc>
                          <a:spcPts val="1103"/>
                        </a:lnSpc>
                      </a:pP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3"/>
                        </a:lnSpc>
                      </a:pP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03"/>
                        </a:lnSpc>
                      </a:pPr>
                    </a:p>
                  </a:txBody>
                  <a:tcPr marL="0" marR="0" marT="0" marB="0" vert="horz">
                    <a:lnL w="15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5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5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5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700" y="171450"/>
            <a:ext cx="3479800" cy="736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7350" y="171450"/>
            <a:ext cx="1835150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18050"/>
            <a:ext cx="6858000" cy="1473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2720"/>
            <a:ext cx="6859270" cy="8851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" y="1220470"/>
            <a:ext cx="6894830" cy="22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244600"/>
            <a:ext cx="20967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b="1" sz="1300">
                <a:solidFill>
                  <a:srgbClr val="000000"/>
                </a:solidFill>
                <a:latin typeface="Noto Serif"/>
              </a:rPr>
              <a:t>Mentor (Institute) Remarks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16430"/>
            <a:ext cx="683514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1100">
                <a:solidFill>
                  <a:srgbClr val="000000"/>
                </a:solidFill>
                <a:latin typeface="Noto Serif"/>
              </a:rPr>
              <a:t>____________________________________________________________________________________________________________________________________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4090"/>
            <a:ext cx="683514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1100">
                <a:solidFill>
                  <a:srgbClr val="000000"/>
                </a:solidFill>
                <a:latin typeface="Noto Serif"/>
              </a:rPr>
              <a:t>____________________________________________________________________________________________________________________________________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1750"/>
            <a:ext cx="683514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1100">
                <a:solidFill>
                  <a:srgbClr val="000000"/>
                </a:solidFill>
                <a:latin typeface="Noto Serif"/>
              </a:rPr>
              <a:t>____________________________________________________________________________________________________________________________________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99410"/>
            <a:ext cx="683387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1100">
                <a:solidFill>
                  <a:srgbClr val="000000"/>
                </a:solidFill>
                <a:latin typeface="Noto Serif"/>
              </a:rPr>
              <a:t>____________________________________________________________________________________________________________________________________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27070"/>
            <a:ext cx="683514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1100">
                <a:solidFill>
                  <a:srgbClr val="000000"/>
                </a:solidFill>
                <a:latin typeface="Noto Serif"/>
              </a:rPr>
              <a:t>____________________________________________________________________________________________________________________________________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54729"/>
            <a:ext cx="6836409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1100">
                <a:solidFill>
                  <a:srgbClr val="000000"/>
                </a:solidFill>
                <a:latin typeface="Noto Serif"/>
              </a:rPr>
              <a:t>____________________________________________________________________________________________________________________________________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2390"/>
            <a:ext cx="683514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1100">
                <a:solidFill>
                  <a:srgbClr val="000000"/>
                </a:solidFill>
                <a:latin typeface="Noto Serif"/>
              </a:rPr>
              <a:t>____________________________________________________________________________________________________________________________________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10050"/>
            <a:ext cx="683387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1100">
                <a:solidFill>
                  <a:srgbClr val="000000"/>
                </a:solidFill>
                <a:latin typeface="Noto Serif"/>
              </a:rPr>
              <a:t>____________________________________________________________________________________________________________________________________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37710"/>
            <a:ext cx="683514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1100">
                <a:solidFill>
                  <a:srgbClr val="000000"/>
                </a:solidFill>
                <a:latin typeface="Noto Serif"/>
              </a:rPr>
              <a:t>____________________________________________________________________________________________________________________________________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7910"/>
            <a:ext cx="68656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7" sz="1100">
                <a:solidFill>
                  <a:srgbClr val="000000"/>
                </a:solidFill>
                <a:latin typeface="Noto Serif"/>
              </a:rPr>
              <a:t>____________________________________________________________________________________________________________________________________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00" y="171450"/>
            <a:ext cx="3479800" cy="736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7350" y="171450"/>
            <a:ext cx="1835150" cy="552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